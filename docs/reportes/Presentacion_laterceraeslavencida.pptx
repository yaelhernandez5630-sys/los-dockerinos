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Inter"/>
      <p:regular r:id="rId35"/>
      <p:bold r:id="rId36"/>
      <p:italic r:id="rId37"/>
      <p:boldItalic r:id="rId38"/>
    </p:embeddedFont>
    <p:embeddedFont>
      <p:font typeface="Urbanist SemiBold"/>
      <p:regular r:id="rId39"/>
      <p:bold r:id="rId40"/>
      <p:italic r:id="rId41"/>
      <p:boldItalic r:id="rId42"/>
    </p:embeddedFont>
    <p:embeddedFont>
      <p:font typeface="Urbanist Medium"/>
      <p:regular r:id="rId43"/>
      <p:bold r:id="rId44"/>
      <p:italic r:id="rId45"/>
      <p:boldItalic r:id="rId46"/>
    </p:embeddedFont>
    <p:embeddedFont>
      <p:font typeface="Urbanist"/>
      <p:regular r:id="rId47"/>
      <p:bold r:id="rId48"/>
      <p:italic r:id="rId49"/>
      <p:boldItalic r:id="rId50"/>
    </p:embeddedFont>
    <p:embeddedFont>
      <p:font typeface="Inter ExtraBold"/>
      <p:bold r:id="rId51"/>
      <p:boldItalic r:id="rId52"/>
    </p:embeddedFont>
    <p:embeddedFont>
      <p:font typeface="JetBrains Mon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SemiBold-bold.fntdata"/><Relationship Id="rId42" Type="http://schemas.openxmlformats.org/officeDocument/2006/relationships/font" Target="fonts/UrbanistSemiBold-boldItalic.fntdata"/><Relationship Id="rId41" Type="http://schemas.openxmlformats.org/officeDocument/2006/relationships/font" Target="fonts/UrbanistSemiBold-italic.fntdata"/><Relationship Id="rId44" Type="http://schemas.openxmlformats.org/officeDocument/2006/relationships/font" Target="fonts/UrbanistMedium-bold.fntdata"/><Relationship Id="rId43" Type="http://schemas.openxmlformats.org/officeDocument/2006/relationships/font" Target="fonts/UrbanistMedium-regular.fntdata"/><Relationship Id="rId46" Type="http://schemas.openxmlformats.org/officeDocument/2006/relationships/font" Target="fonts/UrbanistMedium-boldItalic.fntdata"/><Relationship Id="rId45" Type="http://schemas.openxmlformats.org/officeDocument/2006/relationships/font" Target="fonts/Urbanis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Urbanist-bold.fntdata"/><Relationship Id="rId47" Type="http://schemas.openxmlformats.org/officeDocument/2006/relationships/font" Target="fonts/Urbanist-regular.fntdata"/><Relationship Id="rId49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Inter-regular.fntdata"/><Relationship Id="rId34" Type="http://schemas.openxmlformats.org/officeDocument/2006/relationships/slide" Target="slides/slide29.xml"/><Relationship Id="rId37" Type="http://schemas.openxmlformats.org/officeDocument/2006/relationships/font" Target="fonts/Inter-italic.fntdata"/><Relationship Id="rId36" Type="http://schemas.openxmlformats.org/officeDocument/2006/relationships/font" Target="fonts/Inter-bold.fntdata"/><Relationship Id="rId39" Type="http://schemas.openxmlformats.org/officeDocument/2006/relationships/font" Target="fonts/UrbanistSemiBold-regular.fntdata"/><Relationship Id="rId38" Type="http://schemas.openxmlformats.org/officeDocument/2006/relationships/font" Target="fonts/Inter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InterExtraBold-bold.fntdata"/><Relationship Id="rId50" Type="http://schemas.openxmlformats.org/officeDocument/2006/relationships/font" Target="fonts/Urbanist-boldItalic.fntdata"/><Relationship Id="rId53" Type="http://schemas.openxmlformats.org/officeDocument/2006/relationships/font" Target="fonts/JetBrainsMono-regular.fntdata"/><Relationship Id="rId52" Type="http://schemas.openxmlformats.org/officeDocument/2006/relationships/font" Target="fonts/InterExtraBold-boldItalic.fntdata"/><Relationship Id="rId11" Type="http://schemas.openxmlformats.org/officeDocument/2006/relationships/slide" Target="slides/slide6.xml"/><Relationship Id="rId55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54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JetBrains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ef817376a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ef817376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f1df993d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f1df993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8a13719a6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8a13719a6_2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f81737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ef817376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8a13719a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c8a13719a6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eedaf658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eedaf6581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eedaf6581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eedaf6581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8a13719a6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c8a13719a6_2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eedaf658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eedaf658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eedaf6581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beedaf6581_3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8a13719a6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8a13719a6_2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e703c78a7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e703c78a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e5fd31221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ce5fd31221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e5fd31221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ce5fd31221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e5fd31221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ce5fd31221_1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e5fd3122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e5fd31221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e5fd31221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ce5fd31221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e5fd31221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ce5fd31221_1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e5fd31221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e5fd31221_1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e5fd31221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e5fd31221_1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e5fd3122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ce5fd31221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e5fd312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ce5fd312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e5fd3122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ce5fd31221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e703c78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ce703c78a7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e5fd3122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ce5fd31221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ce703c78a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ce703c78a7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jpg"/><Relationship Id="rId4" Type="http://schemas.openxmlformats.org/officeDocument/2006/relationships/image" Target="../media/image59.jpg"/><Relationship Id="rId5" Type="http://schemas.openxmlformats.org/officeDocument/2006/relationships/image" Target="../media/image29.png"/><Relationship Id="rId6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3" Type="http://schemas.openxmlformats.org/officeDocument/2006/relationships/image" Target="../media/image41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0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Relationship Id="rId14" Type="http://schemas.openxmlformats.org/officeDocument/2006/relationships/image" Target="../media/image43.png"/><Relationship Id="rId5" Type="http://schemas.openxmlformats.org/officeDocument/2006/relationships/image" Target="../media/image34.png"/><Relationship Id="rId6" Type="http://schemas.openxmlformats.org/officeDocument/2006/relationships/image" Target="../media/image61.png"/><Relationship Id="rId7" Type="http://schemas.openxmlformats.org/officeDocument/2006/relationships/image" Target="../media/image24.png"/><Relationship Id="rId8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0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Relationship Id="rId4" Type="http://schemas.openxmlformats.org/officeDocument/2006/relationships/image" Target="../media/image52.png"/><Relationship Id="rId5" Type="http://schemas.openxmlformats.org/officeDocument/2006/relationships/image" Target="../media/image44.png"/><Relationship Id="rId6" Type="http://schemas.openxmlformats.org/officeDocument/2006/relationships/image" Target="../media/image50.png"/><Relationship Id="rId7" Type="http://schemas.openxmlformats.org/officeDocument/2006/relationships/image" Target="../media/image5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0.png"/><Relationship Id="rId4" Type="http://schemas.openxmlformats.org/officeDocument/2006/relationships/image" Target="../media/image42.png"/><Relationship Id="rId5" Type="http://schemas.openxmlformats.org/officeDocument/2006/relationships/image" Target="../media/image46.png"/><Relationship Id="rId6" Type="http://schemas.openxmlformats.org/officeDocument/2006/relationships/image" Target="../media/image51.png"/><Relationship Id="rId7" Type="http://schemas.openxmlformats.org/officeDocument/2006/relationships/image" Target="../media/image64.png"/><Relationship Id="rId8" Type="http://schemas.openxmlformats.org/officeDocument/2006/relationships/image" Target="../media/image5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8.png"/><Relationship Id="rId4" Type="http://schemas.openxmlformats.org/officeDocument/2006/relationships/image" Target="../media/image6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0.png"/><Relationship Id="rId4" Type="http://schemas.openxmlformats.org/officeDocument/2006/relationships/image" Target="../media/image42.png"/><Relationship Id="rId5" Type="http://schemas.openxmlformats.org/officeDocument/2006/relationships/image" Target="../media/image54.png"/><Relationship Id="rId6" Type="http://schemas.openxmlformats.org/officeDocument/2006/relationships/image" Target="../media/image62.png"/><Relationship Id="rId7" Type="http://schemas.openxmlformats.org/officeDocument/2006/relationships/image" Target="../media/image68.png"/><Relationship Id="rId8" Type="http://schemas.openxmlformats.org/officeDocument/2006/relationships/image" Target="../media/image6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0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Relationship Id="rId4" Type="http://schemas.openxmlformats.org/officeDocument/2006/relationships/image" Target="../media/image70.png"/><Relationship Id="rId5" Type="http://schemas.openxmlformats.org/officeDocument/2006/relationships/image" Target="../media/image72.png"/><Relationship Id="rId6" Type="http://schemas.openxmlformats.org/officeDocument/2006/relationships/image" Target="../media/image6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3.png"/><Relationship Id="rId4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9.png"/><Relationship Id="rId4" Type="http://schemas.openxmlformats.org/officeDocument/2006/relationships/image" Target="../media/image7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8.png"/><Relationship Id="rId4" Type="http://schemas.openxmlformats.org/officeDocument/2006/relationships/image" Target="../media/image6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8.png"/><Relationship Id="rId4" Type="http://schemas.openxmlformats.org/officeDocument/2006/relationships/image" Target="../media/image7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5" y="0"/>
            <a:ext cx="1217884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250" y="41325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618725" y="1362816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wg show desde el Hub</a:t>
            </a:r>
            <a:endParaRPr sz="2100">
              <a:solidFill>
                <a:srgbClr val="38BDF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3010649" y="654475"/>
            <a:ext cx="617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Evidencia técnica del proyecto</a:t>
            </a:r>
            <a:endParaRPr sz="315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10144125" y="6486525"/>
            <a:ext cx="17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Arquitectura</a:t>
            </a:r>
            <a:endParaRPr/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4">
            <a:alphaModFix/>
          </a:blip>
          <a:srcRect b="6353" l="0" r="44034" t="14036"/>
          <a:stretch/>
        </p:blipFill>
        <p:spPr>
          <a:xfrm>
            <a:off x="842300" y="2010250"/>
            <a:ext cx="6170700" cy="4476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263" y="2316613"/>
            <a:ext cx="4086475" cy="30593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7925538" y="2819713"/>
            <a:ext cx="3855900" cy="2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Tráfico Bidireccional:</a:t>
            </a:r>
            <a:r>
              <a:rPr b="0" i="0" lang="en-US" sz="2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Visibilidad Spoke-to-Spoke gracias a la máscara /24 en el Hub.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581025" y="163725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866775" y="1637258"/>
            <a:ext cx="519064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Modelo Hub-and-Spoke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866775" y="2121098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Arquitectura centralizada donde un nodo Maestro (Hub) orquesta y distribuye tareas a nodos periféricos (Spokes/Workers).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81025" y="327362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866775" y="3273623"/>
            <a:ext cx="5190648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Componentes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866775" y="3757463"/>
            <a:ext cx="49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Hub (Rogelio):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Gestiona ruteo y asignación.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Spokes (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abriel, Axel, Yael):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Ejecutan procesamiento intensivo.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81025" y="490998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866775" y="4909988"/>
            <a:ext cx="51906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Entorno Híbrido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66775" y="5393828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Combinación de Arch Linux(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QEMU/KVM)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Ubuntu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 Contenedores.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775" y="164678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28314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919513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2043748" y="590950"/>
            <a:ext cx="8104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Estructura actual de la infraestructura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144125" y="6486525"/>
            <a:ext cx="1752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Arquitectura</a:t>
            </a:r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8925" y="1268725"/>
            <a:ext cx="5190650" cy="521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618725" y="1362825"/>
            <a:ext cx="109365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Adoptamos un enfoque ágil inspirado en Scrum para organizar el desarrollo del proyecto.</a:t>
            </a:r>
            <a:endParaRPr sz="2100">
              <a:solidFill>
                <a:srgbClr val="38BDF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8BDF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trabajo se dividió en Sprints con objetivos claros y entregables funcionales:</a:t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8BDF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8BDF8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3010649" y="654475"/>
            <a:ext cx="617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Metodología Basada en Scrum</a:t>
            </a:r>
            <a:endParaRPr sz="315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0144125" y="6486525"/>
            <a:ext cx="17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Arquitectura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87625" y="2819455"/>
            <a:ext cx="52686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Sprint 1:</a:t>
            </a:r>
            <a:r>
              <a:rPr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Infraestructura (VPN + Docker + Comunicación TCP).</a:t>
            </a:r>
            <a:br>
              <a:rPr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Sprint 2:</a:t>
            </a:r>
            <a:r>
              <a:rPr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Implementación del algoritmo distribuido (Mandelbrot).</a:t>
            </a: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87625" y="4184150"/>
            <a:ext cx="7144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Este enfoque permitió:</a:t>
            </a:r>
            <a:endParaRPr b="1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Reducir riesgos técnicos.</a:t>
            </a: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Detectar errores tempranamente.</a:t>
            </a: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Garantizar estabilidad antes de escalar el sistema.</a:t>
            </a:r>
            <a:endParaRPr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21869"/>
          <a:stretch/>
        </p:blipFill>
        <p:spPr>
          <a:xfrm>
            <a:off x="7261225" y="3199700"/>
            <a:ext cx="4294002" cy="217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618725" y="1362816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Hub y Contenedores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3010649" y="654475"/>
            <a:ext cx="617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Evidencia técnica del proyecto</a:t>
            </a:r>
            <a:endParaRPr sz="315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10144125" y="6486525"/>
            <a:ext cx="17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Arquitectura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349" y="2222250"/>
            <a:ext cx="11379300" cy="19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9138" y="4434300"/>
            <a:ext cx="9033725" cy="12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618725" y="1334477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Contenedores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3010649" y="654475"/>
            <a:ext cx="617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Evidencia </a:t>
            </a: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técnica</a:t>
            </a: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del proyecto</a:t>
            </a:r>
            <a:endParaRPr sz="315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10144125" y="6486525"/>
            <a:ext cx="17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Arquitectura</a:t>
            </a:r>
            <a:endParaRPr/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4675" y="2098738"/>
            <a:ext cx="8562625" cy="1664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388" y="3927100"/>
            <a:ext cx="10725224" cy="14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618725" y="1362816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Pruebas entre nodos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3010649" y="654475"/>
            <a:ext cx="617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Evidencia técnica del proyecto</a:t>
            </a:r>
            <a:endParaRPr sz="315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10144125" y="6486525"/>
            <a:ext cx="17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Arquitectura</a:t>
            </a:r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325" y="2900538"/>
            <a:ext cx="5837875" cy="220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2613" y="2634363"/>
            <a:ext cx="5734050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6750" y="4634454"/>
            <a:ext cx="6858500" cy="17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2869198" y="5047547"/>
            <a:ext cx="64536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1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Handshake Exitoso:</a:t>
            </a:r>
            <a:r>
              <a:rPr b="0" i="0" lang="en-US" sz="2318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Confirmación de conexión Peer-to-Peer mediante wg show.</a:t>
            </a:r>
            <a:endParaRPr sz="2705"/>
          </a:p>
        </p:txBody>
      </p:sp>
      <p:sp>
        <p:nvSpPr>
          <p:cNvPr id="169" name="Google Shape;169;p21"/>
          <p:cNvSpPr txBox="1"/>
          <p:nvPr/>
        </p:nvSpPr>
        <p:spPr>
          <a:xfrm>
            <a:off x="3862387" y="581025"/>
            <a:ext cx="4690586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Evidencia de Ejecución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10372725" y="6486525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Evidencia</a:t>
            </a:r>
            <a:endParaRPr/>
          </a:p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5">
            <a:alphaModFix/>
          </a:blip>
          <a:srcRect b="0" l="0" r="0" t="1942"/>
          <a:stretch/>
        </p:blipFill>
        <p:spPr>
          <a:xfrm>
            <a:off x="1992650" y="1228450"/>
            <a:ext cx="8430050" cy="31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618725" y="1362816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Pruebas de performance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3010649" y="654475"/>
            <a:ext cx="617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Evidencia técnica del proyecto</a:t>
            </a:r>
            <a:endParaRPr sz="315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0144125" y="6486525"/>
            <a:ext cx="175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Arquitectura</a:t>
            </a:r>
            <a:endParaRPr/>
          </a:p>
        </p:txBody>
      </p:sp>
      <p:pic>
        <p:nvPicPr>
          <p:cNvPr id="180" name="Google Shape;18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75" y="2109775"/>
            <a:ext cx="57340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675" y="1981200"/>
            <a:ext cx="57340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3935"/>
            <a:ext cx="3486150" cy="3750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63935"/>
            <a:ext cx="3486150" cy="3750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63935"/>
            <a:ext cx="3486150" cy="375091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803910" y="2916435"/>
            <a:ext cx="304038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Docker Compose</a:t>
            </a:r>
            <a:endParaRPr/>
          </a:p>
        </p:txBody>
      </p:sp>
      <p:sp>
        <p:nvSpPr>
          <p:cNvPr id="191" name="Google Shape;191;p23"/>
          <p:cNvSpPr txBox="1"/>
          <p:nvPr/>
        </p:nvSpPr>
        <p:spPr>
          <a:xfrm>
            <a:off x="876300" y="3400276"/>
            <a:ext cx="2895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Estandarización del entorno de ejecución. Garantiza que bibliotecas críticas como glibc sean consistentes entre Arch Linux, Ubuntu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 nuestro caso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4575810" y="2916435"/>
            <a:ext cx="304038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Network Mode: Host</a:t>
            </a:r>
            <a:endParaRPr/>
          </a:p>
        </p:txBody>
      </p:sp>
      <p:sp>
        <p:nvSpPr>
          <p:cNvPr id="193" name="Google Shape;193;p23"/>
          <p:cNvSpPr txBox="1"/>
          <p:nvPr/>
        </p:nvSpPr>
        <p:spPr>
          <a:xfrm>
            <a:off x="4648200" y="3400276"/>
            <a:ext cx="289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Configuración clave: network_mode: "host". Permite a los contenedores usar directamente la interfaz virtual wg0 del host sin capas NAT adicionales.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8347710" y="2916435"/>
            <a:ext cx="304038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Microservicios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8420100" y="3400276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Despliegue aislado del binario rust-worker, asegurando inmutabilidad y fácil replicación en nuevos nodos (Spokes).</a:t>
            </a:r>
            <a:endParaRPr/>
          </a:p>
        </p:txBody>
      </p:sp>
      <p:pic>
        <p:nvPicPr>
          <p:cNvPr descr="image.png" id="196" name="Google Shape;19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29731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29731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3587" y="229731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2912268" y="581025"/>
            <a:ext cx="6685835" cy="43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Infraestructura de Contenedores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9915525" y="6486525"/>
            <a:ext cx="1981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Infraestructura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ta demasiado adornada"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/>
        </p:nvSpPr>
        <p:spPr>
          <a:xfrm>
            <a:off x="3862372" y="581025"/>
            <a:ext cx="569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Evidencia de </a:t>
            </a:r>
            <a:r>
              <a:rPr lang="en-US" sz="31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Reuniones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10372725" y="6486525"/>
            <a:ext cx="15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Evidencia</a:t>
            </a:r>
            <a:endParaRPr/>
          </a:p>
        </p:txBody>
      </p:sp>
      <p:pic>
        <p:nvPicPr>
          <p:cNvPr id="212" name="Google Shape;2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088" y="1471538"/>
            <a:ext cx="4217776" cy="236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425" y="4247125"/>
            <a:ext cx="4213100" cy="23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7751100" y="2726425"/>
            <a:ext cx="34833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1125" y="1662625"/>
            <a:ext cx="4938399" cy="217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7710" y="4247138"/>
            <a:ext cx="4805227" cy="236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6"/>
          <p:cNvSpPr txBox="1"/>
          <p:nvPr/>
        </p:nvSpPr>
        <p:spPr>
          <a:xfrm>
            <a:off x="4929411" y="193750"/>
            <a:ext cx="25599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5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Metodologia</a:t>
            </a:r>
            <a:endParaRPr sz="900"/>
          </a:p>
        </p:txBody>
      </p:sp>
      <p:sp>
        <p:nvSpPr>
          <p:cNvPr id="222" name="Google Shape;222;p26"/>
          <p:cNvSpPr txBox="1"/>
          <p:nvPr/>
        </p:nvSpPr>
        <p:spPr>
          <a:xfrm>
            <a:off x="10372725" y="6486525"/>
            <a:ext cx="15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Sección 4: Evidencia</a:t>
            </a:r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7751100" y="2726425"/>
            <a:ext cx="34833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750" y="623900"/>
            <a:ext cx="8512501" cy="41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9750" y="4750975"/>
            <a:ext cx="8512501" cy="1352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mbellecer esta diapositiva" id="230" name="Google Shape;2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27944"/>
            <a:ext cx="3422600" cy="3707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127944"/>
            <a:ext cx="3422600" cy="3707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127944"/>
            <a:ext cx="3422600" cy="37070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5184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 txBox="1"/>
          <p:nvPr/>
        </p:nvSpPr>
        <p:spPr>
          <a:xfrm>
            <a:off x="971550" y="3318569"/>
            <a:ext cx="2773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Coordinator (Axum)</a:t>
            </a:r>
            <a:endParaRPr/>
          </a:p>
        </p:txBody>
      </p:sp>
      <p:sp>
        <p:nvSpPr>
          <p:cNvPr id="241" name="Google Shape;241;p28"/>
          <p:cNvSpPr txBox="1"/>
          <p:nvPr/>
        </p:nvSpPr>
        <p:spPr>
          <a:xfrm>
            <a:off x="971550" y="3758505"/>
            <a:ext cx="26415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Aplicación asíncrona centralizada. Expone una API REST, subdivide el trabajo matemáticamente y salvaguarda el progreso utilizando estado concurrente y mutabilidad controlada.</a:t>
            </a:r>
            <a:endParaRPr/>
          </a:p>
        </p:txBody>
      </p:sp>
      <p:pic>
        <p:nvPicPr>
          <p:cNvPr descr="image.png" id="242" name="Google Shape;24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75150" y="25184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8"/>
          <p:cNvSpPr txBox="1"/>
          <p:nvPr/>
        </p:nvSpPr>
        <p:spPr>
          <a:xfrm>
            <a:off x="4775150" y="3318569"/>
            <a:ext cx="2773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Workers (Req</a:t>
            </a:r>
            <a:r>
              <a:rPr lang="en-US" sz="195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</a:t>
            </a:r>
            <a:r>
              <a:rPr b="0" i="0" lang="en-US" sz="19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est)</a:t>
            </a:r>
            <a:endParaRPr/>
          </a:p>
        </p:txBody>
      </p:sp>
      <p:sp>
        <p:nvSpPr>
          <p:cNvPr id="244" name="Google Shape;244;p28"/>
          <p:cNvSpPr txBox="1"/>
          <p:nvPr/>
        </p:nvSpPr>
        <p:spPr>
          <a:xfrm>
            <a:off x="4775150" y="3758505"/>
            <a:ext cx="2641500" cy="17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Nodos periféricos "tontos" pero de alta intensidad computacional. Solicitan tareas infinitamente (Polling), evalúan el algoritmo y devuelven arreglos de píxeles puros.</a:t>
            </a:r>
            <a:endParaRPr/>
          </a:p>
        </p:txBody>
      </p:sp>
      <p:pic>
        <p:nvPicPr>
          <p:cNvPr descr="image.png" id="245" name="Google Shape;245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78750" y="251846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/>
          <p:nvPr/>
        </p:nvSpPr>
        <p:spPr>
          <a:xfrm>
            <a:off x="8578750" y="3318569"/>
            <a:ext cx="2773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Serialización (Serde)</a:t>
            </a:r>
            <a:endParaRPr/>
          </a:p>
        </p:txBody>
      </p:sp>
      <p:sp>
        <p:nvSpPr>
          <p:cNvPr id="247" name="Google Shape;247;p28"/>
          <p:cNvSpPr txBox="1"/>
          <p:nvPr/>
        </p:nvSpPr>
        <p:spPr>
          <a:xfrm>
            <a:off x="8578750" y="3758505"/>
            <a:ext cx="2641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Intercambio estricto de JSON. Traduce la memoria de las estructuras 		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 		</a:t>
            </a:r>
            <a:r>
              <a:rPr lang="en-US" sz="13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cadenas de red para viajar a través del túnel VPN.</a:t>
            </a:r>
            <a:endParaRPr/>
          </a:p>
        </p:txBody>
      </p:sp>
      <p:pic>
        <p:nvPicPr>
          <p:cNvPr descr="image.png" id="248" name="Google Shape;24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268039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37075" y="2680394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769250" y="2680394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78025" y="4342968"/>
            <a:ext cx="4953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38275" y="4342980"/>
            <a:ext cx="1009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 Orientada a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Microservicios</a:t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53" y="120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9765"/>
            <a:ext cx="5229225" cy="3623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69765"/>
            <a:ext cx="5229225" cy="36232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 txBox="1"/>
          <p:nvPr/>
        </p:nvSpPr>
        <p:spPr>
          <a:xfrm>
            <a:off x="971550" y="256029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Estado Concurrente</a:t>
            </a:r>
            <a:endParaRPr/>
          </a:p>
        </p:txBody>
      </p:sp>
      <p:sp>
        <p:nvSpPr>
          <p:cNvPr id="263" name="Google Shape;263;p29"/>
          <p:cNvSpPr txBox="1"/>
          <p:nvPr/>
        </p:nvSpPr>
        <p:spPr>
          <a:xfrm>
            <a:off x="971600" y="2995935"/>
            <a:ext cx="4448100" cy="26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seguridad de datos compartidos es clave en hilos asíncronos.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estado del Coordinador usa Arc&lt;Mutex&lt;T&gt;&gt; para garantizar protección.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Esto evita conflictos de datos al manejar múltiples solicitudes simultáneas de Workers.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Asegura que las tareas sean solicitadas sin errores ni corrupción.</a:t>
            </a:r>
            <a:endParaRPr sz="15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971588" y="4332160"/>
            <a:ext cx="444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 txBox="1"/>
          <p:nvPr/>
        </p:nvSpPr>
        <p:spPr>
          <a:xfrm>
            <a:off x="6772275" y="256029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Particionamiento Dinámico</a:t>
            </a:r>
            <a:endParaRPr/>
          </a:p>
        </p:txBody>
      </p:sp>
      <p:sp>
        <p:nvSpPr>
          <p:cNvPr id="266" name="Google Shape;266;p29"/>
          <p:cNvSpPr txBox="1"/>
          <p:nvPr/>
        </p:nvSpPr>
        <p:spPr>
          <a:xfrm>
            <a:off x="6772313" y="2967310"/>
            <a:ext cx="4448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Coordinador lee las dimensiones de la imagen desde las variables de entorn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</a:t>
            </a:r>
            <a:endParaRPr/>
          </a:p>
        </p:txBody>
      </p:sp>
      <p:sp>
        <p:nvSpPr>
          <p:cNvPr id="267" name="Google Shape;267;p29"/>
          <p:cNvSpPr txBox="1"/>
          <p:nvPr/>
        </p:nvSpPr>
        <p:spPr>
          <a:xfrm>
            <a:off x="6772325" y="3928410"/>
            <a:ext cx="444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 carga no se procesa entera; se fragmenta en regiones horizontales de la imagen. La estructura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ImageRegion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delega con su identificador propio.</a:t>
            </a:r>
            <a:endParaRPr/>
          </a:p>
        </p:txBody>
      </p:sp>
      <p:sp>
        <p:nvSpPr>
          <p:cNvPr id="268" name="Google Shape;268;p29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 Coordinador: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Memoria y Estado</a:t>
            </a:r>
            <a:endParaRPr/>
          </a:p>
        </p:txBody>
      </p:sp>
      <p:sp>
        <p:nvSpPr>
          <p:cNvPr id="269" name="Google Shape;269;p29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0"/>
          <p:cNvSpPr txBox="1"/>
          <p:nvPr/>
        </p:nvSpPr>
        <p:spPr>
          <a:xfrm>
            <a:off x="1057275" y="2152650"/>
            <a:ext cx="9048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MandelbrotParams: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Fija la resolución y los límites del plano complejo (coordenadas X/Y) para el cálculo del fractal.</a:t>
            </a:r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1057275" y="3067050"/>
            <a:ext cx="9048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Task: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Contrato enviado al Worker. Incluye un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task_id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único y los límites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la sub-región a calcular (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y_start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y_end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1057275" y="3981450"/>
            <a:ext cx="9048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TaskResult: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El resultado procesado. Incluye métricas de rendimiento (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computation_time_ms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y el vector crítico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Vec&lt;u8&gt;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que alberga el mapa de píxeles en escala de grises.</a:t>
            </a:r>
            <a:endParaRPr/>
          </a:p>
        </p:txBody>
      </p:sp>
      <p:sp>
        <p:nvSpPr>
          <p:cNvPr id="278" name="Google Shape;278;p30"/>
          <p:cNvSpPr txBox="1"/>
          <p:nvPr/>
        </p:nvSpPr>
        <p:spPr>
          <a:xfrm>
            <a:off x="1057275" y="4895850"/>
            <a:ext cx="90489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Agnóstico al Host: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Gracias a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#[derive(Serialize, Deserialize)]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Serde, cualquier nodo entiende y valida instantáneamente este formato JSON.</a:t>
            </a:r>
            <a:endParaRPr/>
          </a:p>
        </p:txBody>
      </p:sp>
      <p:pic>
        <p:nvPicPr>
          <p:cNvPr descr="image.png" id="279" name="Google Shape;2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81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0956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100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244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Modelado Estricto de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Datos</a:t>
            </a:r>
            <a:endParaRPr/>
          </a:p>
        </p:txBody>
      </p:sp>
      <p:sp>
        <p:nvSpPr>
          <p:cNvPr id="284" name="Google Shape;284;p30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71700"/>
            <a:ext cx="52292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181225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1"/>
          <p:cNvSpPr txBox="1"/>
          <p:nvPr/>
        </p:nvSpPr>
        <p:spPr>
          <a:xfrm>
            <a:off x="1057275" y="1824037"/>
            <a:ext cx="475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Polling Continuo: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Los Workers ejecutan un bucle infinito enviando peticiones GET a 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/get_task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simplificando la comunicación.</a:t>
            </a:r>
            <a:endParaRPr/>
          </a:p>
        </p:txBody>
      </p:sp>
      <p:sp>
        <p:nvSpPr>
          <p:cNvPr id="293" name="Google Shape;293;p31"/>
          <p:cNvSpPr txBox="1"/>
          <p:nvPr/>
        </p:nvSpPr>
        <p:spPr>
          <a:xfrm>
            <a:off x="1057275" y="3052762"/>
            <a:ext cx="47529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Resiliencia a Fallos: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 el Hub no responde o la VPN colapsa, el patrón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match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Rust captura el error y realiza una pausa controlada (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tokio::time::sleep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antes de reintentar.</a:t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1057275" y="4595812"/>
            <a:ext cx="4752900" cy="17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Ejecución en Memoria Pura: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cálculo se realiza directamente en la memoria y CPU del Worker. El resultado se empaqueta en bytes para su envío, asegurando que un Worker no interfiera con el trabajo de otro.</a:t>
            </a:r>
            <a:endParaRPr/>
          </a:p>
        </p:txBody>
      </p:sp>
      <p:pic>
        <p:nvPicPr>
          <p:cNvPr descr="image.png" id="295" name="Google Shape;29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8526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0813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6243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1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Ciclo de Vida de los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Workers</a:t>
            </a:r>
            <a:endParaRPr/>
          </a:p>
        </p:txBody>
      </p:sp>
      <p:sp>
        <p:nvSpPr>
          <p:cNvPr id="299" name="Google Shape;299;p31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950" y="3750175"/>
            <a:ext cx="3375516" cy="64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 txBox="1"/>
          <p:nvPr/>
        </p:nvSpPr>
        <p:spPr>
          <a:xfrm>
            <a:off x="581025" y="3057376"/>
            <a:ext cx="49635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256</a:t>
            </a:r>
            <a:endParaRPr/>
          </a:p>
        </p:txBody>
      </p:sp>
      <p:sp>
        <p:nvSpPr>
          <p:cNvPr id="306" name="Google Shape;306;p32"/>
          <p:cNvSpPr txBox="1"/>
          <p:nvPr/>
        </p:nvSpPr>
        <p:spPr>
          <a:xfrm>
            <a:off x="581025" y="4581376"/>
            <a:ext cx="496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Iteraciones Máximas por Coordenada</a:t>
            </a:r>
            <a:endParaRPr/>
          </a:p>
        </p:txBody>
      </p:sp>
      <p:sp>
        <p:nvSpPr>
          <p:cNvPr id="307" name="Google Shape;307;p32"/>
          <p:cNvSpPr txBox="1"/>
          <p:nvPr/>
        </p:nvSpPr>
        <p:spPr>
          <a:xfrm>
            <a:off x="6115942" y="2225932"/>
            <a:ext cx="5769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Algoritmo Fractal en Rust</a:t>
            </a:r>
            <a:endParaRPr/>
          </a:p>
        </p:txBody>
      </p:sp>
      <p:sp>
        <p:nvSpPr>
          <p:cNvPr id="308" name="Google Shape;308;p32"/>
          <p:cNvSpPr txBox="1"/>
          <p:nvPr/>
        </p:nvSpPr>
        <p:spPr>
          <a:xfrm>
            <a:off x="6115942" y="2439798"/>
            <a:ext cx="54951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 cada coordenada de píxel, se determina si el punto equivalente en el plano complejo escapa al infinito, mediante una fórmula matemática que se aplica repetidamente.</a:t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6115942" y="4366468"/>
            <a:ext cx="54951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 código, esto se traduce a monitorear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x*x + y*y &lt;= 4.0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16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número de iteraciones que se logran antes de cruzar el umbral define la intensidad o color (Luminancia 0-255) del píxel final.</a:t>
            </a:r>
            <a:endParaRPr/>
          </a:p>
        </p:txBody>
      </p:sp>
      <p:pic>
        <p:nvPicPr>
          <p:cNvPr descr="image.png" id="310" name="Google Shape;31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1417" y="3836611"/>
            <a:ext cx="3044576" cy="55631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2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 Conjunto de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Mandelbrot</a:t>
            </a:r>
            <a:endParaRPr/>
          </a:p>
        </p:txBody>
      </p:sp>
      <p:sp>
        <p:nvSpPr>
          <p:cNvPr id="312" name="Google Shape;312;p32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90750"/>
            <a:ext cx="52292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200275"/>
            <a:ext cx="52101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3"/>
          <p:cNvSpPr txBox="1"/>
          <p:nvPr/>
        </p:nvSpPr>
        <p:spPr>
          <a:xfrm>
            <a:off x="1057275" y="1685925"/>
            <a:ext cx="47529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Fase de Construcción (Builder):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El código se compila dentro de un contenedor aislado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rust:alpine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generando un binario estático (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--release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1057275" y="3228975"/>
            <a:ext cx="47529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Fase de Despliegue (Runner):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Se descarta toda la maquinaria de Rust y las librerías base. La imagen de producción finaliza alojada en un sistema operativo purgado (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alpine:latest 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322" name="Google Shape;322;p33"/>
          <p:cNvSpPr txBox="1"/>
          <p:nvPr/>
        </p:nvSpPr>
        <p:spPr>
          <a:xfrm>
            <a:off x="1057275" y="4772025"/>
            <a:ext cx="47529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Peso Mosca:</a:t>
            </a: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 imagen total desciende a ~50MB. Minimiza el consumo de red, memoria, y reduce drásticamente las vulnerabilidades y la superficie de ataque.</a:t>
            </a:r>
            <a:endParaRPr/>
          </a:p>
        </p:txBody>
      </p:sp>
      <p:pic>
        <p:nvPicPr>
          <p:cNvPr descr="image.png" id="323" name="Google Shape;32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719262"/>
            <a:ext cx="2857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2575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006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Contenerización: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Multi-Stage</a:t>
            </a:r>
            <a:endParaRPr/>
          </a:p>
        </p:txBody>
      </p:sp>
      <p:sp>
        <p:nvSpPr>
          <p:cNvPr id="327" name="Google Shape;327;p33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69765"/>
            <a:ext cx="5229225" cy="3623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69765"/>
            <a:ext cx="5229225" cy="362322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4"/>
          <p:cNvSpPr txBox="1"/>
          <p:nvPr/>
        </p:nvSpPr>
        <p:spPr>
          <a:xfrm>
            <a:off x="971550" y="256029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Composición Declarativa</a:t>
            </a:r>
            <a:endParaRPr/>
          </a:p>
        </p:txBody>
      </p:sp>
      <p:sp>
        <p:nvSpPr>
          <p:cNvPr id="336" name="Google Shape;336;p34"/>
          <p:cNvSpPr txBox="1"/>
          <p:nvPr/>
        </p:nvSpPr>
        <p:spPr>
          <a:xfrm>
            <a:off x="971550" y="3116460"/>
            <a:ext cx="4448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uso de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 docker-compose.yml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permite 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levantar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4 contenedores Worker idénticos por nodo físico, cada uno asignado con un id de entorno único (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WORKER_ID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/>
          </a:p>
        </p:txBody>
      </p:sp>
      <p:sp>
        <p:nvSpPr>
          <p:cNvPr id="337" name="Google Shape;337;p34"/>
          <p:cNvSpPr txBox="1"/>
          <p:nvPr/>
        </p:nvSpPr>
        <p:spPr>
          <a:xfrm>
            <a:off x="971550" y="4402335"/>
            <a:ext cx="444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Garantizando que no existan desajustes de versiones de entre las distintas distribuciones Linux de los miembros del equipo.</a:t>
            </a:r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6772275" y="2560290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Pila de Red Bypass</a:t>
            </a:r>
            <a:endParaRPr/>
          </a:p>
        </p:txBody>
      </p:sp>
      <p:sp>
        <p:nvSpPr>
          <p:cNvPr id="339" name="Google Shape;339;p34"/>
          <p:cNvSpPr txBox="1"/>
          <p:nvPr/>
        </p:nvSpPr>
        <p:spPr>
          <a:xfrm>
            <a:off x="6772275" y="3116460"/>
            <a:ext cx="444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Aplicando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network_mode: "host"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instruimos a Docker a ignorar su red interna virtual (Bridge) y sus propias reglas NAT.</a:t>
            </a:r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6772275" y="4116585"/>
            <a:ext cx="4448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contenedor captura de manera directa las tarjetas de red de la máquina huésped, comunicándose directamente por la interfaz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wg0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eliminando la latencia artificial.</a:t>
            </a: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Despliegue Paralelo y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Orquestación</a:t>
            </a:r>
            <a:endParaRPr/>
          </a:p>
        </p:txBody>
      </p:sp>
      <p:sp>
        <p:nvSpPr>
          <p:cNvPr id="342" name="Google Shape;342;p34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42244"/>
            <a:ext cx="3422600" cy="3478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2242244"/>
            <a:ext cx="3422600" cy="3478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2242244"/>
            <a:ext cx="3422600" cy="347841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5"/>
          <p:cNvSpPr txBox="1"/>
          <p:nvPr/>
        </p:nvSpPr>
        <p:spPr>
          <a:xfrm>
            <a:off x="971550" y="2632769"/>
            <a:ext cx="264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480k</a:t>
            </a:r>
            <a:endParaRPr/>
          </a:p>
        </p:txBody>
      </p:sp>
      <p:sp>
        <p:nvSpPr>
          <p:cNvPr id="352" name="Google Shape;352;p35"/>
          <p:cNvSpPr txBox="1"/>
          <p:nvPr/>
        </p:nvSpPr>
        <p:spPr>
          <a:xfrm>
            <a:off x="971550" y="3461444"/>
            <a:ext cx="2773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Píxeles Renderizados</a:t>
            </a:r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971550" y="3901380"/>
            <a:ext cx="2641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Calculados iteración tras iteración matemática de forma distribuida logrando una resolución base de 800x600 mapeada en memoria cruda.</a:t>
            </a:r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4775150" y="2632769"/>
            <a:ext cx="264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16</a:t>
            </a:r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4775150" y="3461444"/>
            <a:ext cx="2773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Hilos Asíncronos</a:t>
            </a:r>
            <a:endParaRPr/>
          </a:p>
        </p:txBody>
      </p:sp>
      <p:sp>
        <p:nvSpPr>
          <p:cNvPr id="356" name="Google Shape;356;p35"/>
          <p:cNvSpPr txBox="1"/>
          <p:nvPr/>
        </p:nvSpPr>
        <p:spPr>
          <a:xfrm>
            <a:off x="4775150" y="3901380"/>
            <a:ext cx="26415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Desplegados transparentemente usando Docker. El Coordinador despachó y recibió confirmación de las 16 tareas segmentadas con precisión.</a:t>
            </a:r>
            <a:endParaRPr/>
          </a:p>
        </p:txBody>
      </p:sp>
      <p:sp>
        <p:nvSpPr>
          <p:cNvPr id="357" name="Google Shape;357;p35"/>
          <p:cNvSpPr txBox="1"/>
          <p:nvPr/>
        </p:nvSpPr>
        <p:spPr>
          <a:xfrm>
            <a:off x="8578750" y="3461444"/>
            <a:ext cx="2773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Cálculo y Ensamblaje</a:t>
            </a:r>
            <a:endParaRPr/>
          </a:p>
        </p:txBody>
      </p:sp>
      <p:sp>
        <p:nvSpPr>
          <p:cNvPr id="358" name="Google Shape;358;p35"/>
          <p:cNvSpPr txBox="1"/>
          <p:nvPr/>
        </p:nvSpPr>
        <p:spPr>
          <a:xfrm>
            <a:off x="8578750" y="3901380"/>
            <a:ext cx="264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Coordinador integró los vectores de 16 máquinas devolviendo el archivo PNG final en fracciones de segundo con el crate </a:t>
            </a:r>
            <a:r>
              <a:rPr lang="en-US" sz="1350">
                <a:solidFill>
                  <a:srgbClr val="DEFF9A"/>
                </a:solidFill>
                <a:highlight>
                  <a:srgbClr val="262626"/>
                </a:highlight>
                <a:latin typeface="Courier New"/>
                <a:ea typeface="Courier New"/>
                <a:cs typeface="Courier New"/>
                <a:sym typeface="Courier New"/>
              </a:rPr>
              <a:t>image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359" name="Google Shape;359;p35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Métricas y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Resultados Finales</a:t>
            </a:r>
            <a:endParaRPr/>
          </a:p>
        </p:txBody>
      </p:sp>
      <p:sp>
        <p:nvSpPr>
          <p:cNvPr id="360" name="Google Shape;360;p35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Métricas y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Resultados Finales</a:t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775" y="2511050"/>
            <a:ext cx="4639250" cy="349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5400" y="2882150"/>
            <a:ext cx="5400150" cy="275454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 txBox="1"/>
          <p:nvPr/>
        </p:nvSpPr>
        <p:spPr>
          <a:xfrm>
            <a:off x="733425" y="1442175"/>
            <a:ext cx="11581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Dockers trabajando en conjunto</a:t>
            </a:r>
            <a:endParaRPr sz="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7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Métricas y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Resultados Finales</a:t>
            </a:r>
            <a:endParaRPr/>
          </a:p>
        </p:txBody>
      </p:sp>
      <p:sp>
        <p:nvSpPr>
          <p:cNvPr id="375" name="Google Shape;375;p37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25" y="1442175"/>
            <a:ext cx="4979100" cy="43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7"/>
          <p:cNvPicPr preferRelativeResize="0"/>
          <p:nvPr/>
        </p:nvPicPr>
        <p:blipFill rotWithShape="1">
          <a:blip r:embed="rId4">
            <a:alphaModFix/>
          </a:blip>
          <a:srcRect b="0" l="0" r="17641" t="0"/>
          <a:stretch/>
        </p:blipFill>
        <p:spPr>
          <a:xfrm>
            <a:off x="5950100" y="1581550"/>
            <a:ext cx="5092700" cy="33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Métricas y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Resultados Finales</a:t>
            </a:r>
            <a:endParaRPr/>
          </a:p>
        </p:txBody>
      </p:sp>
      <p:sp>
        <p:nvSpPr>
          <p:cNvPr id="383" name="Google Shape;383;p38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38"/>
          <p:cNvPicPr preferRelativeResize="0"/>
          <p:nvPr/>
        </p:nvPicPr>
        <p:blipFill rotWithShape="1">
          <a:blip r:embed="rId3">
            <a:alphaModFix/>
          </a:blip>
          <a:srcRect b="0" l="3279" r="0" t="0"/>
          <a:stretch/>
        </p:blipFill>
        <p:spPr>
          <a:xfrm>
            <a:off x="1672925" y="1628700"/>
            <a:ext cx="9397675" cy="36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39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9"/>
          <p:cNvSpPr txBox="1"/>
          <p:nvPr/>
        </p:nvSpPr>
        <p:spPr>
          <a:xfrm>
            <a:off x="971550" y="2632769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9"/>
          <p:cNvSpPr txBox="1"/>
          <p:nvPr/>
        </p:nvSpPr>
        <p:spPr>
          <a:xfrm>
            <a:off x="9715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9"/>
          <p:cNvSpPr txBox="1"/>
          <p:nvPr/>
        </p:nvSpPr>
        <p:spPr>
          <a:xfrm>
            <a:off x="971550" y="3901380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9"/>
          <p:cNvSpPr txBox="1"/>
          <p:nvPr/>
        </p:nvSpPr>
        <p:spPr>
          <a:xfrm>
            <a:off x="47751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9"/>
          <p:cNvSpPr txBox="1"/>
          <p:nvPr/>
        </p:nvSpPr>
        <p:spPr>
          <a:xfrm>
            <a:off x="4775150" y="3901380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9"/>
          <p:cNvSpPr txBox="1"/>
          <p:nvPr/>
        </p:nvSpPr>
        <p:spPr>
          <a:xfrm>
            <a:off x="8578750" y="2632769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9"/>
          <p:cNvSpPr txBox="1"/>
          <p:nvPr/>
        </p:nvSpPr>
        <p:spPr>
          <a:xfrm>
            <a:off x="85787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9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5F5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Métricas y </a:t>
            </a:r>
            <a:r>
              <a:rPr b="0" i="0" lang="en-US" sz="37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Resultados Finales</a:t>
            </a:r>
            <a:endParaRPr/>
          </a:p>
        </p:txBody>
      </p:sp>
      <p:sp>
        <p:nvSpPr>
          <p:cNvPr id="398" name="Google Shape;398;p39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1363" y="1610063"/>
            <a:ext cx="6397376" cy="479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40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0"/>
          <p:cNvSpPr txBox="1"/>
          <p:nvPr/>
        </p:nvSpPr>
        <p:spPr>
          <a:xfrm>
            <a:off x="971550" y="2632769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0"/>
          <p:cNvSpPr txBox="1"/>
          <p:nvPr/>
        </p:nvSpPr>
        <p:spPr>
          <a:xfrm>
            <a:off x="9715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0"/>
          <p:cNvSpPr txBox="1"/>
          <p:nvPr/>
        </p:nvSpPr>
        <p:spPr>
          <a:xfrm>
            <a:off x="971550" y="3901380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0"/>
          <p:cNvSpPr txBox="1"/>
          <p:nvPr/>
        </p:nvSpPr>
        <p:spPr>
          <a:xfrm>
            <a:off x="47751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0"/>
          <p:cNvSpPr txBox="1"/>
          <p:nvPr/>
        </p:nvSpPr>
        <p:spPr>
          <a:xfrm>
            <a:off x="4775150" y="3901380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0"/>
          <p:cNvSpPr txBox="1"/>
          <p:nvPr/>
        </p:nvSpPr>
        <p:spPr>
          <a:xfrm>
            <a:off x="8578750" y="2632769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0"/>
          <p:cNvSpPr txBox="1"/>
          <p:nvPr/>
        </p:nvSpPr>
        <p:spPr>
          <a:xfrm>
            <a:off x="85787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0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Metodologia</a:t>
            </a:r>
            <a:endParaRPr>
              <a:solidFill>
                <a:srgbClr val="DEFF9A"/>
              </a:solidFill>
            </a:endParaRPr>
          </a:p>
        </p:txBody>
      </p:sp>
      <p:sp>
        <p:nvSpPr>
          <p:cNvPr id="413" name="Google Shape;413;p40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974" y="2044349"/>
            <a:ext cx="11299849" cy="2769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0D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9" name="Google Shape;419;p41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1"/>
          <p:cNvSpPr txBox="1"/>
          <p:nvPr/>
        </p:nvSpPr>
        <p:spPr>
          <a:xfrm>
            <a:off x="971550" y="2632769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1"/>
          <p:cNvSpPr txBox="1"/>
          <p:nvPr/>
        </p:nvSpPr>
        <p:spPr>
          <a:xfrm>
            <a:off x="9715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1"/>
          <p:cNvSpPr txBox="1"/>
          <p:nvPr/>
        </p:nvSpPr>
        <p:spPr>
          <a:xfrm>
            <a:off x="971550" y="3901380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1"/>
          <p:cNvSpPr txBox="1"/>
          <p:nvPr/>
        </p:nvSpPr>
        <p:spPr>
          <a:xfrm>
            <a:off x="47751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1"/>
          <p:cNvSpPr txBox="1"/>
          <p:nvPr/>
        </p:nvSpPr>
        <p:spPr>
          <a:xfrm>
            <a:off x="4775150" y="3901380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1"/>
          <p:cNvSpPr txBox="1"/>
          <p:nvPr/>
        </p:nvSpPr>
        <p:spPr>
          <a:xfrm>
            <a:off x="8578750" y="2632769"/>
            <a:ext cx="264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1"/>
          <p:cNvSpPr txBox="1"/>
          <p:nvPr/>
        </p:nvSpPr>
        <p:spPr>
          <a:xfrm>
            <a:off x="8578750" y="3461444"/>
            <a:ext cx="277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1"/>
          <p:cNvSpPr txBox="1"/>
          <p:nvPr/>
        </p:nvSpPr>
        <p:spPr>
          <a:xfrm>
            <a:off x="581025" y="581025"/>
            <a:ext cx="11581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Metodologia</a:t>
            </a:r>
            <a:endParaRPr>
              <a:solidFill>
                <a:srgbClr val="DEFF9A"/>
              </a:solidFill>
            </a:endParaRPr>
          </a:p>
        </p:txBody>
      </p:sp>
      <p:sp>
        <p:nvSpPr>
          <p:cNvPr id="428" name="Google Shape;428;p41"/>
          <p:cNvSpPr/>
          <p:nvPr/>
        </p:nvSpPr>
        <p:spPr>
          <a:xfrm>
            <a:off x="581025" y="1295400"/>
            <a:ext cx="110301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5800" y="1442175"/>
            <a:ext cx="6279251" cy="478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